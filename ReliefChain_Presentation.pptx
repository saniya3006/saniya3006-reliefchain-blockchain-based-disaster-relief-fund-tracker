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219421-7449-cffb-322d-e6b5e7ca8b62}">
          <p14:sldIdLst>
            <p14:sldId id="256"/>
            <p14:sldId id="257"/>
            <p14:sldId id="258"/>
          </p14:sldIdLst>
        </p14:section>
        <p14:section name="System design" id="{5006ab82-8a51-786c-26e3-9aa16d6fb11a}">
          <p14:sldIdLst>
            <p14:sldId id="259"/>
            <p14:sldId id="260"/>
            <p14:sldId id="261"/>
            <p14:sldId id="262"/>
          </p14:sldIdLst>
        </p14:section>
        <p14:section name="Working application" id="{1559cb38-59da-cc4d-fb9c-9f6e6a0ff6de}">
          <p14:sldIdLst>
            <p14:sldId id="263"/>
            <p14:sldId id="264"/>
            <p14:sldId id="265"/>
          </p14:sldIdLst>
        </p14:section>
        <p14:section name="Real-life applications" id="{81534703-93d3-29bf-f519-7690c98ef3ba}">
          <p14:sldIdLst>
            <p14:sldId id="266"/>
            <p14:sldId id="267"/>
            <p14:sldId id="268"/>
            <p14:sldId id="269"/>
          </p14:sldIdLst>
        </p14:section>
        <p14:section name="Results and conclusion" id="{15e5166d-c7f8-9e8e-1046-9221194f7d64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ma'am. Our project is ReliefChain, a blockchain-based disaster relief fund tracker. It addresses the syllabus topic: develop a blockchain based application for transparent and genuine charity. On the right is our working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people donate after a flood, they can't see whether their donation was counted or how it was spent. Records are in a private database that can be changed. That gap between donor and victim is the trust problem we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two. In the existing system the charity controls the records. In ReliefChain every donation and every allocation is written to a smart contract, so it is permanent, public and verifiable with a transaction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The donor never needs a crypto wallet: the backend holds the organization's wallet, which is the contract owner, and signs the transaction. The blockchain returns a transaction hash, which becomes the donor's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layers. Users interact with the React website, which calls the FastAPI backend. The backend uses web3.py to talk to the smart contract on a local Ethereum blockchain run by Hardhat. All financial data is on-chain; only images and secrets are kept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contract has four write functions, all protected by onlyOwner, and free read functions. The most important rule: allocateFunds rejects any amount larger than raised minus already-allocated, so the organization can't claim to spend money it never received. Events are emitted for every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Solidity for the contract, Hardhat to run a local Ethereum network, FastAPI with web3.py for the backend, React with Vite and Tailwind for the website, and Recharts for the allocation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campaign page for Chennai Flood Relief. The donor types a name and amount and clicks Donate Now. Within a second the transaction is mined and the donor sees Donation Successful with the transaction hash and block number. That hash is permanent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relief organization logs in to the admin panel and records how funds were used: category, amount and a note. If it tries to record more than was donated, the smart contract rejects it. The transparency dashboard shows everything publicly.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is what makes it trustworthy. Anyone can paste a transaction hash and we fetch it straight from the blockchain and decode it. A tampered hash returns not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real-life side: how organizations already use blockchain for aid, and where our system can be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idea is not just academic. The UN World Food Programme's Building Blocks, first tested in Pakistan in 2017, is now a shared blockchain network for coordinating aid, used in Jordan, Bangladesh and Ukraine. UNICEF created a CryptoFund in 2019. BitGive's GiveTrack lets donors trace donations. Our project is a simplified model of the same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system works anywhere people donate and want proof: disaster NGOs, government relief funds, corporate CSR spending, medical crowdfunding, temple trusts, and college scholarship or alumni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realistic scenario. After a cyclone, an NGO creates a campaign. Citizens donate and each gets a hash. The NGO records allocations for food kits and medicine. Donors and journalists check the dashboard, and auditors match bills against the on-chain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tested at three levels. 15 smart contract tests, 5 backend integration tests on the live chain, and 51 automated checks in a real browser covering donation, verification, admin actions, errors and mobile layout. All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limits. Blockchain makes records transparent and tamper-evident, but verifying that an organization is genuine is still an off-chain process, and allocations are self-reported.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a UPI payment gateway, optional MetaMask for donors with wallets, bills on IPFS, multi-signature approvals, deployment on a public network, and SMS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ReliefChain records every donation and allocation on a blockchain, enforces rules in code, and lets anyone verify transactions. It makes charity finances transparent, while being honest that organization verification remains off-chain. Thank you, we are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DEAE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DEAE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9776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DEAE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ReliefChain · Blockchain for transparent charity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MINI-PROJECT  ·  BLOCKCHAIN TECHNOLOGY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ReliefChain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1089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DEAE6"/>
                </a:solidFill>
              </a:rPr>
              <a:t>Blockchain-Based Disaster Relief Fund Tracker for transparent and genuine charity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500" dirty="0"/>
          </a:p>
        </p:txBody>
      </p:sp>
      <p:sp>
        <p:nvSpPr>
          <p:cNvPr id="6" name="Home page screenshot frame"/>
          <p:cNvSpPr/>
          <p:nvPr/>
        </p:nvSpPr>
        <p:spPr>
          <a:xfrm>
            <a:off x="6903720" y="2087445"/>
            <a:ext cx="4754880" cy="268311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7" name="Home page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087445"/>
            <a:ext cx="4754880" cy="26831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03720" y="5760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running on a local Ethereum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problem: donors can't see where relief money goes</a:t>
            </a:r>
            <a:endParaRPr lang="en-US" sz="32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FDECDC"/>
          </a:solidFill>
          <a:ln/>
        </p:spPr>
      </p:sp>
      <p:pic>
        <p:nvPicPr>
          <p:cNvPr id="4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8877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your donation was counted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are emails or PDFs that cannot be independently checked.</a:t>
            </a:r>
            <a:endParaRPr lang="en-US" sz="1400" dirty="0"/>
          </a:p>
        </p:txBody>
      </p:sp>
      <p:sp>
        <p:nvSpPr>
          <p:cNvPr id="7" name="Problem 2 circle"/>
          <p:cNvSpPr/>
          <p:nvPr/>
        </p:nvSpPr>
        <p:spPr>
          <a:xfrm>
            <a:off x="548640" y="2606040"/>
            <a:ext cx="685800" cy="685800"/>
          </a:xfrm>
          <a:prstGeom prst="ellipse">
            <a:avLst/>
          </a:prstGeom>
          <a:solidFill>
            <a:srgbClr val="FDECDC"/>
          </a:solidFill>
          <a:ln/>
        </p:spPr>
      </p:sp>
      <p:pic>
        <p:nvPicPr>
          <p:cNvPr id="8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7774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87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sit in a private database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can edit or delete entries and nobody would know.</a:t>
            </a:r>
            <a:endParaRPr lang="en-US" sz="1400" dirty="0"/>
          </a:p>
        </p:txBody>
      </p:sp>
      <p:sp>
        <p:nvSpPr>
          <p:cNvPr id="11" name="Problem 3 circle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rgbClr val="FDECDC"/>
          </a:solidFill>
          <a:ln/>
        </p:spPr>
      </p:sp>
      <p:pic>
        <p:nvPicPr>
          <p:cNvPr id="12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9662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76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shown only as totals, months later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160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rarely see how much went to food, medicine or shelter.</a:t>
            </a:r>
            <a:endParaRPr lang="en-US" sz="1400" dirty="0"/>
          </a:p>
        </p:txBody>
      </p:sp>
      <p:sp>
        <p:nvSpPr>
          <p:cNvPr id="15" name="Problem 4 circle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rgbClr val="FDECDC"/>
          </a:solidFill>
          <a:ln/>
        </p:spPr>
      </p:sp>
      <p:pic>
        <p:nvPicPr>
          <p:cNvPr id="16" name="Proble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15493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fundraisers appear after disasters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public trail, genuine and fake appeals look the same.</a:t>
            </a:r>
            <a:endParaRPr lang="en-US" sz="1400" dirty="0"/>
          </a:p>
        </p:txBody>
      </p:sp>
      <p:sp>
        <p:nvSpPr>
          <p:cNvPr id="19" name="Trust gap card"/>
          <p:cNvSpPr/>
          <p:nvPr/>
        </p:nvSpPr>
        <p:spPr>
          <a:xfrm>
            <a:off x="7040880" y="1417320"/>
            <a:ext cx="4572000" cy="4526280"/>
          </a:xfrm>
          <a:prstGeom prst="roundRect">
            <a:avLst>
              <a:gd name="adj" fmla="val 2424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36092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GAP</a:t>
            </a:r>
            <a:endParaRPr lang="en-US" sz="1300" dirty="0"/>
          </a:p>
        </p:txBody>
      </p:sp>
      <p:sp>
        <p:nvSpPr>
          <p:cNvPr id="21" name="Trust flow 1"/>
          <p:cNvSpPr/>
          <p:nvPr/>
        </p:nvSpPr>
        <p:spPr>
          <a:xfrm>
            <a:off x="7818120" y="219456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81812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gives ₹500</a:t>
            </a:r>
            <a:endParaRPr lang="en-US" sz="1700" dirty="0"/>
          </a:p>
        </p:txBody>
      </p:sp>
      <p:sp>
        <p:nvSpPr>
          <p:cNvPr id="23" name="Trust arrow 1"/>
          <p:cNvSpPr/>
          <p:nvPr/>
        </p:nvSpPr>
        <p:spPr>
          <a:xfrm>
            <a:off x="9189720" y="2971800"/>
            <a:ext cx="274320" cy="3200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4" name="Trust flow 2"/>
          <p:cNvSpPr/>
          <p:nvPr/>
        </p:nvSpPr>
        <p:spPr>
          <a:xfrm>
            <a:off x="7818120" y="333756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25" name="Text 19"/>
          <p:cNvSpPr txBox="1"/>
          <p:nvPr/>
        </p:nvSpPr>
        <p:spPr>
          <a:xfrm>
            <a:off x="781812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26" name="Trust arrow 2"/>
          <p:cNvSpPr/>
          <p:nvPr/>
        </p:nvSpPr>
        <p:spPr>
          <a:xfrm>
            <a:off x="9189720" y="4114800"/>
            <a:ext cx="274320" cy="3200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7" name="Trust flow 3"/>
          <p:cNvSpPr/>
          <p:nvPr/>
        </p:nvSpPr>
        <p:spPr>
          <a:xfrm>
            <a:off x="7818120" y="448056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81812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victims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5349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reduces trust and discourages donations.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Existing system vs ReliefChain</a:t>
            </a:r>
            <a:endParaRPr lang="en-US" sz="3200" dirty="0"/>
          </a:p>
        </p:txBody>
      </p:sp>
      <p:sp>
        <p:nvSpPr>
          <p:cNvPr id="3" name="Existing system card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2200" dirty="0"/>
          </a:p>
        </p:txBody>
      </p:sp>
      <p:pic>
        <p:nvPicPr>
          <p:cNvPr id="5" name="Existing syste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keeps records in its own database</a:t>
            </a:r>
            <a:endParaRPr lang="en-US" sz="1600" dirty="0"/>
          </a:p>
        </p:txBody>
      </p:sp>
      <p:pic>
        <p:nvPicPr>
          <p:cNvPr id="7" name="Existing syste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82112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can be changed silently</a:t>
            </a:r>
            <a:endParaRPr lang="en-US" sz="1600" dirty="0"/>
          </a:p>
        </p:txBody>
      </p:sp>
      <p:pic>
        <p:nvPicPr>
          <p:cNvPr id="9" name="Existing syste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534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8496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published months later</a:t>
            </a:r>
            <a:endParaRPr lang="en-US" sz="1600" dirty="0"/>
          </a:p>
        </p:txBody>
      </p:sp>
      <p:pic>
        <p:nvPicPr>
          <p:cNvPr id="11" name="Existing system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0857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45628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receipt cannot be verified</a:t>
            </a:r>
            <a:endParaRPr lang="en-US" sz="1600" dirty="0"/>
          </a:p>
        </p:txBody>
      </p:sp>
      <p:pic>
        <p:nvPicPr>
          <p:cNvPr id="13" name="Existing system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2180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71600" y="5276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total spending is shown</a:t>
            </a:r>
            <a:endParaRPr lang="en-US" sz="1600" dirty="0"/>
          </a:p>
        </p:txBody>
      </p:sp>
      <p:sp>
        <p:nvSpPr>
          <p:cNvPr id="15" name="Proposed: ReliefChain card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66294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Proposed: ReliefChain</a:t>
            </a:r>
            <a:endParaRPr lang="en-US" sz="2200" dirty="0"/>
          </a:p>
        </p:txBody>
      </p:sp>
      <p:pic>
        <p:nvPicPr>
          <p:cNvPr id="17" name="Proposed: ReliefChain icon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46888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8660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stored in a smart contract</a:t>
            </a:r>
            <a:endParaRPr lang="en-US" sz="1600" dirty="0"/>
          </a:p>
        </p:txBody>
      </p:sp>
      <p:pic>
        <p:nvPicPr>
          <p:cNvPr id="19" name="Proposed: ReliefChain icon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182112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086600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permanent and tamper-evident</a:t>
            </a:r>
            <a:endParaRPr lang="en-US" sz="1600" dirty="0"/>
          </a:p>
        </p:txBody>
      </p:sp>
      <p:pic>
        <p:nvPicPr>
          <p:cNvPr id="21" name="Proposed: ReliefChain icon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895344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086600" y="38496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in real time</a:t>
            </a:r>
            <a:endParaRPr lang="en-US" sz="1600" dirty="0"/>
          </a:p>
        </p:txBody>
      </p:sp>
      <p:pic>
        <p:nvPicPr>
          <p:cNvPr id="23" name="Proposed: ReliefChain icon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608576"/>
            <a:ext cx="292608" cy="292608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086600" y="45628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is a verifiable transaction hash</a:t>
            </a:r>
            <a:endParaRPr lang="en-US" sz="1600" dirty="0"/>
          </a:p>
        </p:txBody>
      </p:sp>
      <p:pic>
        <p:nvPicPr>
          <p:cNvPr id="25" name="Proposed: ReliefChain icon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321808"/>
            <a:ext cx="292608" cy="292608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086600" y="5276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shown category-wise: food, medicine, shelter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a donation flows through ReliefChain</a:t>
            </a:r>
            <a:endParaRPr lang="en-US" sz="3200" dirty="0"/>
          </a:p>
        </p:txBody>
      </p:sp>
      <p:sp>
        <p:nvSpPr>
          <p:cNvPr id="3" name="Step 1 card"/>
          <p:cNvSpPr/>
          <p:nvPr/>
        </p:nvSpPr>
        <p:spPr>
          <a:xfrm>
            <a:off x="548640" y="14630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Step 1 circle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name and ₹ amount, clicks Donate</a:t>
            </a:r>
            <a:endParaRPr lang="en-US" sz="1400" dirty="0"/>
          </a:p>
        </p:txBody>
      </p:sp>
      <p:sp>
        <p:nvSpPr>
          <p:cNvPr id="9" name="Flow arrow 1"/>
          <p:cNvSpPr/>
          <p:nvPr/>
        </p:nvSpPr>
        <p:spPr>
          <a:xfrm>
            <a:off x="2587752" y="2743200"/>
            <a:ext cx="201168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tep 2 card"/>
          <p:cNvSpPr/>
          <p:nvPr/>
        </p:nvSpPr>
        <p:spPr>
          <a:xfrm>
            <a:off x="2816352" y="14630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1" name="Step 2 circle"/>
          <p:cNvSpPr/>
          <p:nvPr/>
        </p:nvSpPr>
        <p:spPr>
          <a:xfrm>
            <a:off x="3456432" y="16916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351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53512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website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953512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request to the backend API</a:t>
            </a:r>
            <a:endParaRPr lang="en-US" sz="1400" dirty="0"/>
          </a:p>
        </p:txBody>
      </p:sp>
      <p:sp>
        <p:nvSpPr>
          <p:cNvPr id="16" name="Flow arrow 2"/>
          <p:cNvSpPr/>
          <p:nvPr/>
        </p:nvSpPr>
        <p:spPr>
          <a:xfrm>
            <a:off x="4855464" y="2743200"/>
            <a:ext cx="201168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tep 3 card"/>
          <p:cNvSpPr/>
          <p:nvPr/>
        </p:nvSpPr>
        <p:spPr>
          <a:xfrm>
            <a:off x="5084064" y="14630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8" name="Step 3 circle"/>
          <p:cNvSpPr/>
          <p:nvPr/>
        </p:nvSpPr>
        <p:spPr>
          <a:xfrm>
            <a:off x="5724144" y="16916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9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874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2122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21224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21224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signs the transaction</a:t>
            </a:r>
            <a:endParaRPr lang="en-US" sz="1400" dirty="0"/>
          </a:p>
        </p:txBody>
      </p:sp>
      <p:sp>
        <p:nvSpPr>
          <p:cNvPr id="23" name="Flow arrow 3"/>
          <p:cNvSpPr/>
          <p:nvPr/>
        </p:nvSpPr>
        <p:spPr>
          <a:xfrm>
            <a:off x="7123176" y="2743200"/>
            <a:ext cx="201168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4" name="Step 4 card"/>
          <p:cNvSpPr/>
          <p:nvPr/>
        </p:nvSpPr>
        <p:spPr>
          <a:xfrm>
            <a:off x="7351776" y="14630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5" name="Step 4 circle"/>
          <p:cNvSpPr/>
          <p:nvPr/>
        </p:nvSpPr>
        <p:spPr>
          <a:xfrm>
            <a:off x="7991856" y="16916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874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8893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488936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rules and stores the donation</a:t>
            </a:r>
            <a:endParaRPr lang="en-US" sz="1400" dirty="0"/>
          </a:p>
        </p:txBody>
      </p:sp>
      <p:sp>
        <p:nvSpPr>
          <p:cNvPr id="30" name="Flow arrow 4"/>
          <p:cNvSpPr/>
          <p:nvPr/>
        </p:nvSpPr>
        <p:spPr>
          <a:xfrm>
            <a:off x="9390888" y="2743200"/>
            <a:ext cx="201168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1" name="Step 5 card"/>
          <p:cNvSpPr/>
          <p:nvPr/>
        </p:nvSpPr>
        <p:spPr>
          <a:xfrm>
            <a:off x="9619488" y="146304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32" name="Step 5 circle"/>
          <p:cNvSpPr/>
          <p:nvPr/>
        </p:nvSpPr>
        <p:spPr>
          <a:xfrm>
            <a:off x="10259568" y="169164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3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187452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75664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756648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9756648" y="3017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it in a block, returns a tx hash</a:t>
            </a:r>
            <a:endParaRPr lang="en-US" sz="1400" dirty="0"/>
          </a:p>
        </p:txBody>
      </p:sp>
      <p:sp>
        <p:nvSpPr>
          <p:cNvPr id="37" name="Receipt example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686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RECORD STORED ON THE BLOCKCHAIN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868680" y="49377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 →  ₹500  →  Chennai Flood Relief 2026</a:t>
            </a:r>
            <a:endParaRPr lang="en-US" sz="2400" dirty="0"/>
          </a:p>
        </p:txBody>
      </p:sp>
      <p:sp>
        <p:nvSpPr>
          <p:cNvPr id="40" name="Text 33"/>
          <p:cNvSpPr txBox="1"/>
          <p:nvPr/>
        </p:nvSpPr>
        <p:spPr>
          <a:xfrm>
            <a:off x="868680" y="5440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C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hash 0xb34ea59d7d2f…61283498   ·   block #290   ·   status: Confirmed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pic>
        <p:nvPicPr>
          <p:cNvPr id="4" name="Laye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990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Admin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28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00" dirty="0"/>
          </a:p>
        </p:txBody>
      </p:sp>
      <p:sp>
        <p:nvSpPr>
          <p:cNvPr id="7" name="Layer arrow 1"/>
          <p:cNvSpPr/>
          <p:nvPr/>
        </p:nvSpPr>
        <p:spPr>
          <a:xfrm>
            <a:off x="3337560" y="2075688"/>
            <a:ext cx="27432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8" name="Layer 2"/>
          <p:cNvSpPr/>
          <p:nvPr/>
        </p:nvSpPr>
        <p:spPr>
          <a:xfrm>
            <a:off x="548640" y="2313432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pic>
        <p:nvPicPr>
          <p:cNvPr id="9" name="Laye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386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website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715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CSS · Recharts</a:t>
            </a:r>
            <a:endParaRPr lang="en-US" sz="1300" dirty="0"/>
          </a:p>
        </p:txBody>
      </p:sp>
      <p:sp>
        <p:nvSpPr>
          <p:cNvPr id="12" name="Layer arrow 2"/>
          <p:cNvSpPr/>
          <p:nvPr/>
        </p:nvSpPr>
        <p:spPr>
          <a:xfrm>
            <a:off x="3337560" y="3063240"/>
            <a:ext cx="27432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3" name="Layer 3"/>
          <p:cNvSpPr/>
          <p:nvPr/>
        </p:nvSpPr>
        <p:spPr>
          <a:xfrm>
            <a:off x="548640" y="3300984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/>
        </p:spPr>
      </p:sp>
      <p:pic>
        <p:nvPicPr>
          <p:cNvPr id="14" name="Laye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8386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374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web3.py · owner wallet</a:t>
            </a:r>
            <a:endParaRPr lang="en-US" sz="1300" dirty="0"/>
          </a:p>
        </p:txBody>
      </p:sp>
      <p:sp>
        <p:nvSpPr>
          <p:cNvPr id="17" name="Layer arrow 3"/>
          <p:cNvSpPr/>
          <p:nvPr/>
        </p:nvSpPr>
        <p:spPr>
          <a:xfrm>
            <a:off x="3337560" y="4050792"/>
            <a:ext cx="27432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8" name="Layer 4"/>
          <p:cNvSpPr/>
          <p:nvPr/>
        </p:nvSpPr>
        <p:spPr>
          <a:xfrm>
            <a:off x="548640" y="4288536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pic>
        <p:nvPicPr>
          <p:cNvPr id="19" name="Layer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7141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43616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ReliefChain smart contract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4690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· OpenZeppelin Ownable</a:t>
            </a:r>
            <a:endParaRPr lang="en-US" sz="1300" dirty="0"/>
          </a:p>
        </p:txBody>
      </p:sp>
      <p:sp>
        <p:nvSpPr>
          <p:cNvPr id="22" name="Layer arrow 4"/>
          <p:cNvSpPr/>
          <p:nvPr/>
        </p:nvSpPr>
        <p:spPr>
          <a:xfrm>
            <a:off x="3337560" y="5038344"/>
            <a:ext cx="274320" cy="21945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3" name="Layer 5"/>
          <p:cNvSpPr/>
          <p:nvPr/>
        </p:nvSpPr>
        <p:spPr>
          <a:xfrm>
            <a:off x="548640" y="5276088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pic>
        <p:nvPicPr>
          <p:cNvPr id="24" name="Layer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45896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5349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blockchain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1371600" y="5678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local network</a:t>
            </a:r>
            <a:endParaRPr lang="en-US" sz="1300" dirty="0"/>
          </a:p>
        </p:txBody>
      </p:sp>
      <p:sp>
        <p:nvSpPr>
          <p:cNvPr id="27" name="Storage card"/>
          <p:cNvSpPr/>
          <p:nvPr/>
        </p:nvSpPr>
        <p:spPr>
          <a:xfrm>
            <a:off x="6858000" y="132588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17804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stored where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71780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BLOCKCHAIN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7178040" y="242316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Campaigns, targets and status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Donations: name, ₹ amount, time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Allocations: category, ₹, note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hashes (event logs)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17804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(LOCAL)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178040" y="4480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images (too costly on-chain)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key and wallet private key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17804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database: the smart contract is the single source of truth.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contract: functions and security rules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ReliefChain.sol  (Solidity 0.8.24)</a:t>
            </a:r>
            <a:endParaRPr lang="en-US" sz="1500" dirty="0"/>
          </a:p>
        </p:txBody>
      </p:sp>
      <p:sp>
        <p:nvSpPr>
          <p:cNvPr id="4" name="Function 1"/>
          <p:cNvSpPr/>
          <p:nvPr/>
        </p:nvSpPr>
        <p:spPr>
          <a:xfrm>
            <a:off x="548640" y="173736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createCampaign()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30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a new relief campaign</a:t>
            </a:r>
            <a:endParaRPr lang="en-US" sz="1300" dirty="0"/>
          </a:p>
        </p:txBody>
      </p:sp>
      <p:sp>
        <p:nvSpPr>
          <p:cNvPr id="7" name="Function 2"/>
          <p:cNvSpPr/>
          <p:nvPr/>
        </p:nvSpPr>
        <p:spPr>
          <a:xfrm>
            <a:off x="548640" y="260604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791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donate()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992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donation; auto-COMPLETED at target</a:t>
            </a:r>
            <a:endParaRPr lang="en-US" sz="1300" dirty="0"/>
          </a:p>
        </p:txBody>
      </p:sp>
      <p:sp>
        <p:nvSpPr>
          <p:cNvPr id="10" name="Function 3"/>
          <p:cNvSpPr/>
          <p:nvPr/>
        </p:nvSpPr>
        <p:spPr>
          <a:xfrm>
            <a:off x="548640" y="347472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allocateFunds()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67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spending by category</a:t>
            </a:r>
            <a:endParaRPr lang="en-US" sz="1300" dirty="0"/>
          </a:p>
        </p:txBody>
      </p:sp>
      <p:sp>
        <p:nvSpPr>
          <p:cNvPr id="13" name="Function 4"/>
          <p:cNvSpPr/>
          <p:nvPr/>
        </p:nvSpPr>
        <p:spPr>
          <a:xfrm>
            <a:off x="548640" y="434340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165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closeCampaign()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365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new donations</a:t>
            </a:r>
            <a:endParaRPr lang="en-US" sz="1300" dirty="0"/>
          </a:p>
        </p:txBody>
      </p:sp>
      <p:sp>
        <p:nvSpPr>
          <p:cNvPr id="16" name="Function 5"/>
          <p:cNvSpPr/>
          <p:nvPr/>
        </p:nvSpPr>
        <p:spPr>
          <a:xfrm>
            <a:off x="548640" y="5212080"/>
            <a:ext cx="557784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285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4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get…() view functions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052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getCampaign, getDonations, getAllocations: free public reads</a:t>
            </a:r>
            <a:endParaRPr lang="en-US" sz="1300" dirty="0"/>
          </a:p>
        </p:txBody>
      </p:sp>
      <p:sp>
        <p:nvSpPr>
          <p:cNvPr id="19" name="Security card"/>
          <p:cNvSpPr/>
          <p:nvPr/>
        </p:nvSpPr>
        <p:spPr>
          <a:xfrm>
            <a:off x="6583680" y="1234440"/>
            <a:ext cx="5029200" cy="4892040"/>
          </a:xfrm>
          <a:prstGeom prst="roundRect">
            <a:avLst>
              <a:gd name="adj" fmla="val 2243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ecurity circle"/>
          <p:cNvSpPr/>
          <p:nvPr/>
        </p:nvSpPr>
        <p:spPr>
          <a:xfrm>
            <a:off x="6858000" y="146304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Securit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590" y="16116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58952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enforced by code</a:t>
            </a:r>
            <a:endParaRPr lang="en-US" sz="1900" dirty="0"/>
          </a:p>
        </p:txBody>
      </p:sp>
      <p:pic>
        <p:nvPicPr>
          <p:cNvPr id="23" name="Rul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77440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15200" y="2331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onlyOwner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organization's wallet can write, so no fake donations</a:t>
            </a:r>
            <a:endParaRPr lang="en-US" sz="1500" dirty="0"/>
          </a:p>
        </p:txBody>
      </p:sp>
      <p:pic>
        <p:nvPicPr>
          <p:cNvPr id="25" name="Rul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10896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315200" y="3063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campaign ID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for campaigns that don't exist</a:t>
            </a:r>
            <a:endParaRPr lang="en-US" sz="1500" dirty="0"/>
          </a:p>
        </p:txBody>
      </p:sp>
      <p:pic>
        <p:nvPicPr>
          <p:cNvPr id="27" name="Rule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84048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15200" y="3794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over-allocation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can never exceed money donated</a:t>
            </a:r>
            <a:endParaRPr lang="en-US" sz="1500" dirty="0"/>
          </a:p>
        </p:txBody>
      </p:sp>
      <p:pic>
        <p:nvPicPr>
          <p:cNvPr id="29" name="Rule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57200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15200" y="45262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before deadline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or expired campaigns can't collect</a:t>
            </a:r>
            <a:endParaRPr lang="en-US" sz="1500" dirty="0"/>
          </a:p>
        </p:txBody>
      </p:sp>
      <p:pic>
        <p:nvPicPr>
          <p:cNvPr id="31" name="Rule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53035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5257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0, name required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empty or meaningless records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Solidity + OpenZeppelin tile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Solidity + OpenZeppelin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5" name="Solidity + OpenZeppel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+ OpenZeppelin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language and the Ownable access-control library</a:t>
            </a:r>
            <a:endParaRPr lang="en-US" sz="1300" dirty="0"/>
          </a:p>
        </p:txBody>
      </p:sp>
      <p:sp>
        <p:nvSpPr>
          <p:cNvPr id="8" name="Hardhat tile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Hardhat 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0" name="Hardha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Ethereum blockchain, compiling, testing and deployment</a:t>
            </a:r>
            <a:endParaRPr lang="en-US" sz="1300" dirty="0"/>
          </a:p>
        </p:txBody>
      </p:sp>
      <p:sp>
        <p:nvSpPr>
          <p:cNvPr id="13" name="FastAPI + web3.py tile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FastAPI + web3.py 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5" name="FastAPI + web3.p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173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web3.py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 that signs and sends blockchain transactions</a:t>
            </a:r>
            <a:endParaRPr lang="en-US" sz="1300" dirty="0"/>
          </a:p>
        </p:txBody>
      </p:sp>
      <p:sp>
        <p:nvSpPr>
          <p:cNvPr id="18" name="React + Vite tile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React + Vite circle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20" name="React + Vit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19481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component-based single-page web application</a:t>
            </a:r>
            <a:endParaRPr lang="en-US" sz="1300" dirty="0"/>
          </a:p>
        </p:txBody>
      </p:sp>
      <p:sp>
        <p:nvSpPr>
          <p:cNvPr id="23" name="Tailwind CSS tile"/>
          <p:cNvSpPr/>
          <p:nvPr/>
        </p:nvSpPr>
        <p:spPr>
          <a:xfrm>
            <a:off x="429768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Tailwind CSS circle"/>
          <p:cNvSpPr/>
          <p:nvPr/>
        </p:nvSpPr>
        <p:spPr>
          <a:xfrm>
            <a:off x="4572000" y="402336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25" name="Tailwind CS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19481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responsive styling for desktop and mobile</a:t>
            </a:r>
            <a:endParaRPr lang="en-US" sz="1300" dirty="0"/>
          </a:p>
        </p:txBody>
      </p:sp>
      <p:sp>
        <p:nvSpPr>
          <p:cNvPr id="28" name="Recharts tile"/>
          <p:cNvSpPr/>
          <p:nvPr/>
        </p:nvSpPr>
        <p:spPr>
          <a:xfrm>
            <a:off x="804672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9" name="Recharts circle"/>
          <p:cNvSpPr/>
          <p:nvPr/>
        </p:nvSpPr>
        <p:spPr>
          <a:xfrm>
            <a:off x="8321040" y="402336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30" name="Rechart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19481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showing how funds are allocated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app: donate and get a blockchain receipt</a:t>
            </a:r>
            <a:endParaRPr lang="en-US" sz="3200" dirty="0"/>
          </a:p>
        </p:txBody>
      </p:sp>
      <p:sp>
        <p:nvSpPr>
          <p:cNvPr id="3" name="Campaign page screenshot frame"/>
          <p:cNvSpPr/>
          <p:nvPr/>
        </p:nvSpPr>
        <p:spPr>
          <a:xfrm>
            <a:off x="548640" y="1340168"/>
            <a:ext cx="6949440" cy="445198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4" name="Campaign page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0168"/>
            <a:ext cx="6949440" cy="44519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page: target, raised, progress, donors, status</a:t>
            </a:r>
            <a:endParaRPr lang="en-US" sz="1200" dirty="0"/>
          </a:p>
        </p:txBody>
      </p:sp>
      <p:sp>
        <p:nvSpPr>
          <p:cNvPr id="6" name="Donation success screenshot frame"/>
          <p:cNvSpPr/>
          <p:nvPr/>
        </p:nvSpPr>
        <p:spPr>
          <a:xfrm>
            <a:off x="7909560" y="1623221"/>
            <a:ext cx="3703320" cy="388587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7" name="Donation success screensh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23221"/>
            <a:ext cx="3703320" cy="38858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09560" y="5897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with real transaction hash and block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app: track how every rupee is used</a:t>
            </a:r>
            <a:endParaRPr lang="en-US" sz="3200" dirty="0"/>
          </a:p>
        </p:txBody>
      </p:sp>
      <p:sp>
        <p:nvSpPr>
          <p:cNvPr id="3" name="Admin allocation screenshot frame"/>
          <p:cNvSpPr/>
          <p:nvPr/>
        </p:nvSpPr>
        <p:spPr>
          <a:xfrm>
            <a:off x="548640" y="1339625"/>
            <a:ext cx="5486400" cy="248711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4" name="Admin allocation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9625"/>
            <a:ext cx="5486400" cy="24871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69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records an allocation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amount + note. Over-allocation is rejected by the smart contract.</a:t>
            </a:r>
            <a:endParaRPr lang="en-US" sz="1400" dirty="0"/>
          </a:p>
        </p:txBody>
      </p:sp>
      <p:sp>
        <p:nvSpPr>
          <p:cNvPr id="6" name="Transparency dashboard screenshot frame"/>
          <p:cNvSpPr/>
          <p:nvPr/>
        </p:nvSpPr>
        <p:spPr>
          <a:xfrm>
            <a:off x="6309360" y="1404620"/>
            <a:ext cx="530352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7" name="Transparency dashboard screensho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04620"/>
            <a:ext cx="5303520" cy="2357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4069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transparency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vs allocated, category donut chart and a public ledger of transactions.</a:t>
            </a:r>
            <a:endParaRPr lang="en-US" sz="1400" dirty="0"/>
          </a:p>
        </p:txBody>
      </p:sp>
      <p:sp>
        <p:nvSpPr>
          <p:cNvPr id="9" name="Allocation categories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Food circle"/>
          <p:cNvSpPr/>
          <p:nvPr/>
        </p:nvSpPr>
        <p:spPr>
          <a:xfrm>
            <a:off x="914400" y="5303520"/>
            <a:ext cx="594360" cy="59436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1" name="Foo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545211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600" dirty="0"/>
          </a:p>
        </p:txBody>
      </p:sp>
      <p:sp>
        <p:nvSpPr>
          <p:cNvPr id="13" name="Medicine circle"/>
          <p:cNvSpPr/>
          <p:nvPr/>
        </p:nvSpPr>
        <p:spPr>
          <a:xfrm>
            <a:off x="3108960" y="53035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4" name="Medicin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50" y="5452110"/>
            <a:ext cx="297180" cy="2971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4048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600" dirty="0"/>
          </a:p>
        </p:txBody>
      </p:sp>
      <p:sp>
        <p:nvSpPr>
          <p:cNvPr id="16" name="Shelter circle"/>
          <p:cNvSpPr/>
          <p:nvPr/>
        </p:nvSpPr>
        <p:spPr>
          <a:xfrm>
            <a:off x="5303520" y="5303520"/>
            <a:ext cx="594360" cy="594360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17" name="Shelt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110" y="5452110"/>
            <a:ext cx="297180" cy="2971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03504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</a:t>
            </a:r>
            <a:endParaRPr lang="en-US" sz="1600" dirty="0"/>
          </a:p>
        </p:txBody>
      </p:sp>
      <p:sp>
        <p:nvSpPr>
          <p:cNvPr id="19" name="Transport circle"/>
          <p:cNvSpPr/>
          <p:nvPr/>
        </p:nvSpPr>
        <p:spPr>
          <a:xfrm>
            <a:off x="7498080" y="5303520"/>
            <a:ext cx="594360" cy="594360"/>
          </a:xfrm>
          <a:prstGeom prst="ellipse">
            <a:avLst/>
          </a:prstGeom>
          <a:solidFill>
            <a:srgbClr val="EDA100"/>
          </a:solidFill>
          <a:ln/>
        </p:spPr>
      </p:sp>
      <p:pic>
        <p:nvPicPr>
          <p:cNvPr id="20" name="Transpor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5452110"/>
            <a:ext cx="297180" cy="2971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22" name="Other circle"/>
          <p:cNvSpPr/>
          <p:nvPr/>
        </p:nvSpPr>
        <p:spPr>
          <a:xfrm>
            <a:off x="9692640" y="5303520"/>
            <a:ext cx="594360" cy="594360"/>
          </a:xfrm>
          <a:prstGeom prst="ellipse">
            <a:avLst/>
          </a:prstGeom>
          <a:solidFill>
            <a:srgbClr val="E87BA4"/>
          </a:solidFill>
          <a:ln/>
        </p:spPr>
      </p:sp>
      <p:pic>
        <p:nvPicPr>
          <p:cNvPr id="23" name="Oth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1230" y="5452110"/>
            <a:ext cx="297180" cy="2971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440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Anyone can verify a transaction</a:t>
            </a:r>
            <a:endParaRPr lang="en-US" sz="3200" dirty="0"/>
          </a:p>
        </p:txBody>
      </p:sp>
      <p:sp>
        <p:nvSpPr>
          <p:cNvPr id="3" name="Verify page screenshot frame"/>
          <p:cNvSpPr/>
          <p:nvPr/>
        </p:nvSpPr>
        <p:spPr>
          <a:xfrm>
            <a:off x="548640" y="1304579"/>
            <a:ext cx="5394960" cy="484320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pic>
        <p:nvPicPr>
          <p:cNvPr id="4" name="Verify page screensh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4579"/>
            <a:ext cx="5394960" cy="4843203"/>
          </a:xfrm>
          <a:prstGeom prst="rect">
            <a:avLst/>
          </a:prstGeom>
        </p:spPr>
      </p:pic>
      <p:sp>
        <p:nvSpPr>
          <p:cNvPr id="5" name="Verify step 1 circle"/>
          <p:cNvSpPr/>
          <p:nvPr/>
        </p:nvSpPr>
        <p:spPr>
          <a:xfrm>
            <a:off x="6400800" y="141732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6" name="Verify step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58877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0" y="1399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transaction hash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0" y="1783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donation receipt or any history row</a:t>
            </a:r>
            <a:endParaRPr lang="en-US" sz="1400" dirty="0"/>
          </a:p>
        </p:txBody>
      </p:sp>
      <p:sp>
        <p:nvSpPr>
          <p:cNvPr id="9" name="Verify step 2 circle"/>
          <p:cNvSpPr/>
          <p:nvPr/>
        </p:nvSpPr>
        <p:spPr>
          <a:xfrm>
            <a:off x="6400800" y="260604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0" name="Verify step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77749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0" y="2587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on the Verify page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315200" y="29718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looks it up directly on the blockchain, not in a database</a:t>
            </a:r>
            <a:endParaRPr lang="en-US" sz="1400" dirty="0"/>
          </a:p>
        </p:txBody>
      </p:sp>
      <p:sp>
        <p:nvSpPr>
          <p:cNvPr id="13" name="Verify step 3 circle"/>
          <p:cNvSpPr/>
          <p:nvPr/>
        </p:nvSpPr>
        <p:spPr>
          <a:xfrm>
            <a:off x="6400800" y="3794760"/>
            <a:ext cx="685800" cy="68580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4" name="Verify step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3966210"/>
            <a:ext cx="342900" cy="342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315200" y="3776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decoded record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0" y="4160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donor, amount, block number and status: Confirmed</a:t>
            </a:r>
            <a:endParaRPr lang="en-US" sz="1400" dirty="0"/>
          </a:p>
        </p:txBody>
      </p:sp>
      <p:sp>
        <p:nvSpPr>
          <p:cNvPr id="17" name="Verify step 4 circle"/>
          <p:cNvSpPr/>
          <p:nvPr/>
        </p:nvSpPr>
        <p:spPr>
          <a:xfrm>
            <a:off x="6400800" y="4983480"/>
            <a:ext cx="685800" cy="685800"/>
          </a:xfrm>
          <a:prstGeom prst="ellipse">
            <a:avLst/>
          </a:prstGeom>
          <a:solidFill>
            <a:srgbClr val="FDECDC"/>
          </a:solidFill>
          <a:ln/>
        </p:spPr>
      </p:sp>
      <p:pic>
        <p:nvPicPr>
          <p:cNvPr id="18" name="Verify step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5154930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15200" y="4965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hash? Not found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7315200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or invented hashes simply don't exist on the chain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Real-life applications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AE6"/>
                </a:solidFill>
              </a:rPr>
              <a:t>Where blockchain transparency is already used in charity, and where a system like ReliefChain fits</a:t>
            </a:r>
            <a:endParaRPr lang="en-US" sz="2000" dirty="0"/>
          </a:p>
        </p:txBody>
      </p:sp>
      <p:sp>
        <p:nvSpPr>
          <p:cNvPr id="4" name="Section globe circle"/>
          <p:cNvSpPr/>
          <p:nvPr/>
        </p:nvSpPr>
        <p:spPr>
          <a:xfrm>
            <a:off x="822960" y="118872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" name="Section glob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4401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Blockchain in real-world aid and charity</a:t>
            </a:r>
            <a:endParaRPr lang="en-US" sz="3200" dirty="0"/>
          </a:p>
        </p:txBody>
      </p:sp>
      <p:sp>
        <p:nvSpPr>
          <p:cNvPr id="3" name="UN World Food Programme card"/>
          <p:cNvSpPr/>
          <p:nvPr/>
        </p:nvSpPr>
        <p:spPr>
          <a:xfrm>
            <a:off x="548640" y="137160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UN World Food Programme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UN World Food Program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World Food Programme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 (2017 onward)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field-tested in January 2017 in Pakistan. Now a shared blockchain network where aid agencies coordinate help and avoid duplicate aid; WFP reports 4.8 million households supported.</a:t>
            </a:r>
            <a:endParaRPr lang="en-US" sz="1400" dirty="0"/>
          </a:p>
        </p:txBody>
      </p:sp>
      <p:sp>
        <p:nvSpPr>
          <p:cNvPr id="9" name="UNICEF card"/>
          <p:cNvSpPr/>
          <p:nvPr/>
        </p:nvSpPr>
        <p:spPr>
          <a:xfrm>
            <a:off x="4297680" y="137160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0" name="UNICEF circle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UNICEF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CryptoFund (2019)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 that can receive, hold and disburse donations in cryptocurrency, so money sent to projects can be publicly traced on the blockchain.</a:t>
            </a:r>
            <a:endParaRPr lang="en-US" sz="1400" dirty="0"/>
          </a:p>
        </p:txBody>
      </p:sp>
      <p:sp>
        <p:nvSpPr>
          <p:cNvPr id="15" name="BitGive Foundation card"/>
          <p:cNvSpPr/>
          <p:nvPr/>
        </p:nvSpPr>
        <p:spPr>
          <a:xfrm>
            <a:off x="8046720" y="1371600"/>
            <a:ext cx="3474720" cy="36118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6" name="BitGive Foundation circle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BitGive Found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BitGive Foundation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GiveTrack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4290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donation platform that uses blockchain to show donors how their contribution moves and how the charity spends it.</a:t>
            </a:r>
            <a:endParaRPr lang="en-US" sz="1400" dirty="0"/>
          </a:p>
        </p:txBody>
      </p:sp>
      <p:sp>
        <p:nvSpPr>
          <p:cNvPr id="21" name="Common idea banner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idea: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tamper-evident record of who gave, who received and how much. ReliefChain applies it to disaster relief.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of publicly reported initiatives. ReliefChain is a simplified academic model of the same idea.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ReliefChain can be used in real life</a:t>
            </a:r>
            <a:endParaRPr lang="en-US" sz="3200" dirty="0"/>
          </a:p>
        </p:txBody>
      </p:sp>
      <p:sp>
        <p:nvSpPr>
          <p:cNvPr id="3" name="Disaster relief NGOs card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Disaster relief NGOs circle"/>
          <p:cNvSpPr/>
          <p:nvPr/>
        </p:nvSpPr>
        <p:spPr>
          <a:xfrm>
            <a:off x="822960" y="16733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5" name="Disaster relief NGO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562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NGOs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Flood, cyclone and earthquake funds publish every donation and every rupee spent.</a:t>
            </a:r>
            <a:endParaRPr lang="en-US" sz="1400" dirty="0"/>
          </a:p>
        </p:txBody>
      </p:sp>
      <p:sp>
        <p:nvSpPr>
          <p:cNvPr id="8" name="Government relief funds card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9" name="Government relief funds circle"/>
          <p:cNvSpPr/>
          <p:nvPr/>
        </p:nvSpPr>
        <p:spPr>
          <a:xfrm>
            <a:off x="6446520" y="16733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0" name="Government relief fun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562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relief funds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relief funds can show citizens how disaster money is distributed.</a:t>
            </a:r>
            <a:endParaRPr lang="en-US" sz="1400" dirty="0"/>
          </a:p>
        </p:txBody>
      </p:sp>
      <p:sp>
        <p:nvSpPr>
          <p:cNvPr id="13" name="Corporate CSR card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4" name="Corporate CSR circle"/>
          <p:cNvSpPr/>
          <p:nvPr/>
        </p:nvSpPr>
        <p:spPr>
          <a:xfrm>
            <a:off x="822960" y="32735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15" name="Corporate CS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56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520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spending CSR funds can prove where the money went.</a:t>
            </a:r>
            <a:endParaRPr lang="en-US" sz="1400" dirty="0"/>
          </a:p>
        </p:txBody>
      </p:sp>
      <p:sp>
        <p:nvSpPr>
          <p:cNvPr id="18" name="Medical crowdfunding card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9" name="Medical crowdfunding circle"/>
          <p:cNvSpPr/>
          <p:nvPr/>
        </p:nvSpPr>
        <p:spPr>
          <a:xfrm>
            <a:off x="6446520" y="32735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20" name="Medical crowdfunding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4564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1272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crowdfunding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520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raising money for treatment show hospital-bill usage to donors.</a:t>
            </a:r>
            <a:endParaRPr lang="en-US" sz="1400" dirty="0"/>
          </a:p>
        </p:txBody>
      </p:sp>
      <p:sp>
        <p:nvSpPr>
          <p:cNvPr id="23" name="Temple and trust donations card"/>
          <p:cNvSpPr/>
          <p:nvPr/>
        </p:nvSpPr>
        <p:spPr>
          <a:xfrm>
            <a:off x="548640" y="45262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4" name="Temple and trust donations circle"/>
          <p:cNvSpPr/>
          <p:nvPr/>
        </p:nvSpPr>
        <p:spPr>
          <a:xfrm>
            <a:off x="822960" y="48737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25" name="Temple and trust donation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5663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83080" y="4727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and trust donations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783080" y="5120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trusts can make offerings and their usage publicly auditable.</a:t>
            </a:r>
            <a:endParaRPr lang="en-US" sz="1400" dirty="0"/>
          </a:p>
        </p:txBody>
      </p:sp>
      <p:sp>
        <p:nvSpPr>
          <p:cNvPr id="28" name="Scholarships and alumni funds card"/>
          <p:cNvSpPr/>
          <p:nvPr/>
        </p:nvSpPr>
        <p:spPr>
          <a:xfrm>
            <a:off x="6172200" y="45262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9" name="Scholarships and alumni funds circle"/>
          <p:cNvSpPr/>
          <p:nvPr/>
        </p:nvSpPr>
        <p:spPr>
          <a:xfrm>
            <a:off x="6446520" y="4873752"/>
            <a:ext cx="731520" cy="731520"/>
          </a:xfrm>
          <a:prstGeom prst="ellipse">
            <a:avLst/>
          </a:prstGeom>
          <a:solidFill>
            <a:srgbClr val="EEF7F6"/>
          </a:solidFill>
          <a:ln/>
        </p:spPr>
      </p:sp>
      <p:pic>
        <p:nvPicPr>
          <p:cNvPr id="30" name="Scholarships and alumni fund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05663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06640" y="4727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 and alumni funds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406640" y="5120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show alumni exactly which students and needs their money supported.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Real-life scenario: cyclone relief in a coastal district</a:t>
            </a:r>
            <a:endParaRPr lang="en-US" sz="3200" dirty="0"/>
          </a:p>
        </p:txBody>
      </p:sp>
      <p:sp>
        <p:nvSpPr>
          <p:cNvPr id="3" name="Timeline line"/>
          <p:cNvSpPr/>
          <p:nvPr/>
        </p:nvSpPr>
        <p:spPr>
          <a:xfrm>
            <a:off x="914400" y="2148840"/>
            <a:ext cx="10332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1325880" y="1920240"/>
            <a:ext cx="457200" cy="45720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Timeline card 1"/>
          <p:cNvSpPr/>
          <p:nvPr/>
        </p:nvSpPr>
        <p:spPr>
          <a:xfrm>
            <a:off x="548640" y="2697480"/>
            <a:ext cx="2011680" cy="22402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NGO opens “Cyclone Relief” on-chain with a target of ₹5,00,000.</a:t>
            </a:r>
            <a:endParaRPr lang="en-US" sz="1400" dirty="0"/>
          </a:p>
        </p:txBody>
      </p:sp>
      <p:sp>
        <p:nvSpPr>
          <p:cNvPr id="9" name="Timeline dot 2"/>
          <p:cNvSpPr/>
          <p:nvPr/>
        </p:nvSpPr>
        <p:spPr>
          <a:xfrm>
            <a:off x="3593592" y="1920240"/>
            <a:ext cx="457200" cy="45720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1-7</a:t>
            </a:r>
            <a:endParaRPr lang="en-US" sz="1500" dirty="0"/>
          </a:p>
        </p:txBody>
      </p:sp>
      <p:sp>
        <p:nvSpPr>
          <p:cNvPr id="11" name="Timeline card 2"/>
          <p:cNvSpPr/>
          <p:nvPr/>
        </p:nvSpPr>
        <p:spPr>
          <a:xfrm>
            <a:off x="2816352" y="2697480"/>
            <a:ext cx="2011680" cy="22402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9232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donate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337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donor gets a transaction hash as a permanent receipt.</a:t>
            </a:r>
            <a:endParaRPr lang="en-US" sz="1400" dirty="0"/>
          </a:p>
        </p:txBody>
      </p:sp>
      <p:sp>
        <p:nvSpPr>
          <p:cNvPr id="14" name="Timeline dot 3"/>
          <p:cNvSpPr/>
          <p:nvPr/>
        </p:nvSpPr>
        <p:spPr>
          <a:xfrm>
            <a:off x="5861304" y="1920240"/>
            <a:ext cx="457200" cy="45720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500" dirty="0"/>
          </a:p>
        </p:txBody>
      </p:sp>
      <p:sp>
        <p:nvSpPr>
          <p:cNvPr id="16" name="Timeline card 3"/>
          <p:cNvSpPr/>
          <p:nvPr/>
        </p:nvSpPr>
        <p:spPr>
          <a:xfrm>
            <a:off x="5084064" y="2697480"/>
            <a:ext cx="2011680" cy="22402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266944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allocated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337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 food kits and ₹1,00,000 medicine recorded with notes.</a:t>
            </a:r>
            <a:endParaRPr lang="en-US" sz="1400" dirty="0"/>
          </a:p>
        </p:txBody>
      </p:sp>
      <p:sp>
        <p:nvSpPr>
          <p:cNvPr id="19" name="Timeline dot 4"/>
          <p:cNvSpPr/>
          <p:nvPr/>
        </p:nvSpPr>
        <p:spPr>
          <a:xfrm>
            <a:off x="8129016" y="1920240"/>
            <a:ext cx="457200" cy="457200"/>
          </a:xfrm>
          <a:prstGeom prst="ellipse">
            <a:avLst/>
          </a:prstGeom>
          <a:solidFill>
            <a:srgbClr val="0F76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776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500" dirty="0"/>
          </a:p>
        </p:txBody>
      </p:sp>
      <p:sp>
        <p:nvSpPr>
          <p:cNvPr id="21" name="Timeline card 4"/>
          <p:cNvSpPr/>
          <p:nvPr/>
        </p:nvSpPr>
        <p:spPr>
          <a:xfrm>
            <a:off x="7351776" y="2697480"/>
            <a:ext cx="2011680" cy="22402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534656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checks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3337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journalists view the Transparency page and verify hashes.</a:t>
            </a:r>
            <a:endParaRPr lang="en-US" sz="1400" dirty="0"/>
          </a:p>
        </p:txBody>
      </p:sp>
      <p:sp>
        <p:nvSpPr>
          <p:cNvPr id="24" name="Timeline dot 5"/>
          <p:cNvSpPr/>
          <p:nvPr/>
        </p:nvSpPr>
        <p:spPr>
          <a:xfrm>
            <a:off x="10396728" y="1920240"/>
            <a:ext cx="457200" cy="45720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19488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26" name="Timeline card 5"/>
          <p:cNvSpPr/>
          <p:nvPr/>
        </p:nvSpPr>
        <p:spPr>
          <a:xfrm>
            <a:off x="9619488" y="2697480"/>
            <a:ext cx="2011680" cy="22402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802368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matched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802368" y="333756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compare bills and receipts against on-chain allocations.</a:t>
            </a:r>
            <a:endParaRPr lang="en-US" sz="1400" dirty="0"/>
          </a:p>
        </p:txBody>
      </p:sp>
      <p:sp>
        <p:nvSpPr>
          <p:cNvPr id="29" name="Scenario takeaway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EF7F6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in and out is public, permanent and checkable by anyone, without trusting a private spreadsheet.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172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scenario; real-money collection assumes a payment-gateway integration (future scope).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and results</a:t>
            </a:r>
            <a:endParaRPr lang="en-US" sz="3200" dirty="0"/>
          </a:p>
        </p:txBody>
      </p:sp>
      <p:sp>
        <p:nvSpPr>
          <p:cNvPr id="3" name="Stat 1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tests passed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+ Chai</a:t>
            </a:r>
            <a:endParaRPr lang="en-US" sz="1300" dirty="0"/>
          </a:p>
        </p:txBody>
      </p:sp>
      <p:sp>
        <p:nvSpPr>
          <p:cNvPr id="7" name="Stat 2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tests passed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against the live chain</a:t>
            </a:r>
            <a:endParaRPr lang="en-US" sz="1300" dirty="0"/>
          </a:p>
        </p:txBody>
      </p:sp>
      <p:sp>
        <p:nvSpPr>
          <p:cNvPr id="11" name="Stat 3"/>
          <p:cNvSpPr/>
          <p:nvPr/>
        </p:nvSpPr>
        <p:spPr>
          <a:xfrm>
            <a:off x="8046720" y="13716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554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51/51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 passed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Chrome, clicking like a user</a:t>
            </a:r>
            <a:endParaRPr lang="en-US" sz="1300" dirty="0"/>
          </a:p>
        </p:txBody>
      </p:sp>
      <p:sp>
        <p:nvSpPr>
          <p:cNvPr id="15" name="Tested items"/>
          <p:cNvSpPr/>
          <p:nvPr/>
        </p:nvSpPr>
        <p:spPr>
          <a:xfrm>
            <a:off x="548640" y="388620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26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 and deployment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multiple donations, unique donors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allocation and over-allocation rejection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admin actions blocked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526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campaign IDs and invalid input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closing and automatic COMPLETED status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real vs fake transaction hashes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and error handling in the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Advantages and limitations</a:t>
            </a:r>
            <a:endParaRPr lang="en-US" sz="3200" dirty="0"/>
          </a:p>
        </p:txBody>
      </p:sp>
      <p:sp>
        <p:nvSpPr>
          <p:cNvPr id="3" name="Advantages card"/>
          <p:cNvSpPr/>
          <p:nvPr/>
        </p:nvSpPr>
        <p:spPr>
          <a:xfrm>
            <a:off x="548640" y="1325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Advantages circle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5" name="Advantag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72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860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public and tamper-evident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any transaction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by code: no over-allocation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need no crypto wallet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trail of fund usage</a:t>
            </a:r>
            <a:endParaRPr lang="en-US" sz="1700" dirty="0"/>
          </a:p>
        </p:txBody>
      </p:sp>
      <p:sp>
        <p:nvSpPr>
          <p:cNvPr id="8" name="Limitations card"/>
          <p:cNvSpPr/>
          <p:nvPr/>
        </p:nvSpPr>
        <p:spPr>
          <a:xfrm>
            <a:off x="6263640" y="132588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Limitations circle"/>
          <p:cNvSpPr/>
          <p:nvPr/>
        </p:nvSpPr>
        <p:spPr>
          <a:xfrm>
            <a:off x="6537960" y="1508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0" name="Limita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572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28600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prove the charity itself is genuine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are self-reported by the organization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trust the backend to record their donation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payment gateway yet (demo amounts)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 chain resets when restarted</a:t>
            </a:r>
            <a:endParaRPr lang="en-US" sz="1700" dirty="0"/>
          </a:p>
        </p:txBody>
      </p:sp>
      <p:sp>
        <p:nvSpPr>
          <p:cNvPr id="13" name="Principle banner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4A4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“Blockchain does not automatically prove that a charity is genuine. It provides a transparent and tamper-evident record of donations and fund allocations.”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3" name="UPI / payment gateway circle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" name="UPI / payment gatew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56591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89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payment gateway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783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money and store the payment reference on-chain</a:t>
            </a:r>
            <a:endParaRPr lang="en-US" sz="1400" dirty="0"/>
          </a:p>
        </p:txBody>
      </p:sp>
      <p:sp>
        <p:nvSpPr>
          <p:cNvPr id="7" name="Optional MetaMask donations circle"/>
          <p:cNvSpPr/>
          <p:nvPr/>
        </p:nvSpPr>
        <p:spPr>
          <a:xfrm>
            <a:off x="6172200" y="137160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Optional MetaMask donatio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510" y="156591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389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MetaMask donations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1783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donors with wallets sign their own transactions</a:t>
            </a:r>
            <a:endParaRPr lang="en-US" sz="1400" dirty="0"/>
          </a:p>
        </p:txBody>
      </p:sp>
      <p:sp>
        <p:nvSpPr>
          <p:cNvPr id="11" name="Bills on IPFS circle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Bills on IPF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12039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on IPFS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3337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receipts and store their hash with each allocation</a:t>
            </a:r>
            <a:endParaRPr lang="en-US" sz="1400" dirty="0"/>
          </a:p>
        </p:txBody>
      </p:sp>
      <p:sp>
        <p:nvSpPr>
          <p:cNvPr id="15" name="Multi-signature approval circle"/>
          <p:cNvSpPr/>
          <p:nvPr/>
        </p:nvSpPr>
        <p:spPr>
          <a:xfrm>
            <a:off x="6172200" y="292608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Multi-signature approval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510" y="312039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approval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178040" y="3337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trustees must approve each allocation</a:t>
            </a:r>
            <a:endParaRPr lang="en-US" sz="1400" dirty="0"/>
          </a:p>
        </p:txBody>
      </p:sp>
      <p:sp>
        <p:nvSpPr>
          <p:cNvPr id="19" name="Public network deployment circle"/>
          <p:cNvSpPr/>
          <p:nvPr/>
        </p:nvSpPr>
        <p:spPr>
          <a:xfrm>
            <a:off x="548640" y="448056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Public network deploymen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67487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4498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deployment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554480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testnet or Polygon with block-explorer links</a:t>
            </a:r>
            <a:endParaRPr lang="en-US" sz="1400" dirty="0"/>
          </a:p>
        </p:txBody>
      </p:sp>
      <p:sp>
        <p:nvSpPr>
          <p:cNvPr id="23" name="SMS / email receipts circle"/>
          <p:cNvSpPr/>
          <p:nvPr/>
        </p:nvSpPr>
        <p:spPr>
          <a:xfrm>
            <a:off x="6172200" y="448056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4" name="SMS / email receipt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4674870"/>
            <a:ext cx="388620" cy="3886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78040" y="4498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receipts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178040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donors their transaction hash automatically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977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DEAE6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akeaway 1"/>
          <p:cNvSpPr/>
          <p:nvPr/>
        </p:nvSpPr>
        <p:spPr>
          <a:xfrm>
            <a:off x="822960" y="114300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E7A75"/>
            </a:solidFill>
            <a:prstDash val="solid"/>
          </a:ln>
        </p:spPr>
      </p:sp>
      <p:sp>
        <p:nvSpPr>
          <p:cNvPr id="6" name="Takeaway 1 circle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Takeawa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5316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 blockchain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560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and allocation is stored permanently in a smart contract</a:t>
            </a:r>
            <a:endParaRPr lang="en-US" sz="1400" dirty="0"/>
          </a:p>
        </p:txBody>
      </p:sp>
      <p:sp>
        <p:nvSpPr>
          <p:cNvPr id="10" name="Takeaway 2"/>
          <p:cNvSpPr/>
          <p:nvPr/>
        </p:nvSpPr>
        <p:spPr>
          <a:xfrm>
            <a:off x="4389120" y="114300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E7A75"/>
            </a:solidFill>
            <a:prstDash val="solid"/>
          </a:ln>
        </p:spPr>
      </p:sp>
      <p:sp>
        <p:nvSpPr>
          <p:cNvPr id="11" name="Takeaway 2 circle"/>
          <p:cNvSpPr/>
          <p:nvPr/>
        </p:nvSpPr>
        <p:spPr>
          <a:xfrm>
            <a:off x="4663440" y="1371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Takeawa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5316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code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560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owner can write, and spending can never exceed donations</a:t>
            </a:r>
            <a:endParaRPr lang="en-US" sz="1400" dirty="0"/>
          </a:p>
        </p:txBody>
      </p:sp>
      <p:sp>
        <p:nvSpPr>
          <p:cNvPr id="15" name="Takeaway 3"/>
          <p:cNvSpPr/>
          <p:nvPr/>
        </p:nvSpPr>
        <p:spPr>
          <a:xfrm>
            <a:off x="7955280" y="1143000"/>
            <a:ext cx="3291840" cy="2240280"/>
          </a:xfrm>
          <a:prstGeom prst="roundRect">
            <a:avLst>
              <a:gd name="adj" fmla="val 489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E7A75"/>
            </a:solidFill>
            <a:prstDash val="solid"/>
          </a:ln>
        </p:spPr>
      </p:sp>
      <p:sp>
        <p:nvSpPr>
          <p:cNvPr id="16" name="Takeaway 3 circle"/>
          <p:cNvSpPr/>
          <p:nvPr/>
        </p:nvSpPr>
        <p:spPr>
          <a:xfrm>
            <a:off x="8229600" y="1371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Takeawa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5316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by anyone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2560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transaction can be checked by its hash, straight from the chain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iefChain">
  <a:themeElements>
    <a:clrScheme name="ReliefChain">
      <a:dk1>
        <a:srgbClr val="0F172A"/>
      </a:dk1>
      <a:lt1>
        <a:srgbClr val="FFFFFF"/>
      </a:lt1>
      <a:dk2>
        <a:srgbClr val="0B4A45"/>
      </a:dk2>
      <a:lt2>
        <a:srgbClr val="EEF7F6"/>
      </a:lt2>
      <a:accent1>
        <a:srgbClr val="0F766E"/>
      </a:accent1>
      <a:accent2>
        <a:srgbClr val="F97316"/>
      </a:accent2>
      <a:accent3>
        <a:srgbClr val="2A78D6"/>
      </a:accent3>
      <a:accent4>
        <a:srgbClr val="1BAF7A"/>
      </a:accent4>
      <a:accent5>
        <a:srgbClr val="EDA100"/>
      </a:accent5>
      <a:accent6>
        <a:srgbClr val="E87BA4"/>
      </a:accent6>
      <a:hlink>
        <a:srgbClr val="0F766E"/>
      </a:hlink>
      <a:folHlink>
        <a:srgbClr val="0B4A45"/>
      </a:folHlink>
    </a:clrScheme>
    <a:fontScheme name="ReliefCh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ReliefChain - Blockchain-Based Disaster Relief Fund Tracker</dc:title>
  <dc:subject>PptxGenJS Presentation</dc:subject>
  <dc:creator>ReliefChain project team</dc:creator>
  <cp:lastModifiedBy>ReliefChain project team</cp:lastModifiedBy>
  <cp:revision>1</cp:revision>
  <dcterms:created xsi:type="dcterms:W3CDTF">2026-10-08T19:01:39Z</dcterms:created>
  <dcterms:modified xsi:type="dcterms:W3CDTF">2026-10-08T19:01:39Z</dcterms:modified>
</cp:coreProperties>
</file>